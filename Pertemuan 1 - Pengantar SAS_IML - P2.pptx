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273" r:id="rId6"/>
    <p:sldId id="276" r:id="rId7"/>
    <p:sldId id="277" r:id="rId8"/>
    <p:sldId id="275" r:id="rId9"/>
    <p:sldId id="259" r:id="rId10"/>
    <p:sldId id="279" r:id="rId11"/>
    <p:sldId id="280" r:id="rId12"/>
    <p:sldId id="278" r:id="rId13"/>
    <p:sldId id="284" r:id="rId14"/>
    <p:sldId id="286" r:id="rId15"/>
    <p:sldId id="281" r:id="rId16"/>
    <p:sldId id="283" r:id="rId17"/>
    <p:sldId id="282" r:id="rId18"/>
    <p:sldId id="285" r:id="rId19"/>
    <p:sldId id="271" r:id="rId20"/>
    <p:sldId id="272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E3E3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7415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3E3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37415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3E3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3E3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7432" y="332295"/>
            <a:ext cx="2674619" cy="70097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710171" y="332231"/>
            <a:ext cx="0" cy="700405"/>
          </a:xfrm>
          <a:custGeom>
            <a:avLst/>
            <a:gdLst/>
            <a:ahLst/>
            <a:cxnLst/>
            <a:rect l="l" t="t" r="r" b="b"/>
            <a:pathLst>
              <a:path h="700405">
                <a:moveTo>
                  <a:pt x="0" y="0"/>
                </a:moveTo>
                <a:lnTo>
                  <a:pt x="0" y="700151"/>
                </a:lnTo>
              </a:path>
            </a:pathLst>
          </a:custGeom>
          <a:ln w="9525">
            <a:solidFill>
              <a:srgbClr val="233A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275081"/>
            <a:ext cx="6315709" cy="973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E3E3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5169" y="1486915"/>
            <a:ext cx="10342880" cy="1793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7415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18" Type="http://schemas.openxmlformats.org/officeDocument/2006/relationships/image" Target="../media/image1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image" Target="../media/image2.jpg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bguides.library.kent.edu/SAS/OnDeman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tatistika@apps.ipb.ac.id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9546" y="336042"/>
            <a:ext cx="2499360" cy="659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3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Study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Program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540"/>
              </a:lnSpc>
              <a:spcBef>
                <a:spcPts val="175"/>
              </a:spcBef>
            </a:pPr>
            <a:r>
              <a:rPr sz="1600" dirty="0">
                <a:latin typeface="Arial MT"/>
                <a:cs typeface="Arial MT"/>
              </a:rPr>
              <a:t>Statistics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Science </a:t>
            </a:r>
            <a:r>
              <a:rPr sz="1600" dirty="0">
                <a:latin typeface="Arial MT"/>
                <a:cs typeface="Arial MT"/>
              </a:rPr>
              <a:t>Department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Statistics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464808"/>
            <a:ext cx="12192000" cy="393700"/>
          </a:xfrm>
          <a:custGeom>
            <a:avLst/>
            <a:gdLst/>
            <a:ahLst/>
            <a:cxnLst/>
            <a:rect l="l" t="t" r="r" b="b"/>
            <a:pathLst>
              <a:path w="12192000" h="393700">
                <a:moveTo>
                  <a:pt x="12192000" y="0"/>
                </a:moveTo>
                <a:lnTo>
                  <a:pt x="0" y="0"/>
                </a:lnTo>
                <a:lnTo>
                  <a:pt x="0" y="393191"/>
                </a:lnTo>
                <a:lnTo>
                  <a:pt x="12192000" y="3931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3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68196" y="1437132"/>
            <a:ext cx="1285240" cy="1958339"/>
            <a:chOff x="1568196" y="1437132"/>
            <a:chExt cx="1285240" cy="195833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196" y="1437132"/>
              <a:ext cx="586740" cy="5806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8196" y="2043684"/>
              <a:ext cx="1284731" cy="135178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92251" y="1837944"/>
            <a:ext cx="1018540" cy="1544320"/>
            <a:chOff x="492251" y="1837944"/>
            <a:chExt cx="1018540" cy="15443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583" y="1837944"/>
              <a:ext cx="647700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251" y="2449068"/>
              <a:ext cx="1018032" cy="93268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12364" y="2253995"/>
            <a:ext cx="925067" cy="1127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430523"/>
            <a:ext cx="1517903" cy="72847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267967" y="3444240"/>
            <a:ext cx="2569845" cy="2796540"/>
            <a:chOff x="1267967" y="3444240"/>
            <a:chExt cx="2569845" cy="279654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8195" y="3444240"/>
              <a:ext cx="2269236" cy="7284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7967" y="4213860"/>
              <a:ext cx="560832" cy="129235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0615" y="4213860"/>
              <a:ext cx="1365504" cy="55778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0316" y="4230624"/>
              <a:ext cx="291084" cy="2438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59151" y="4792980"/>
              <a:ext cx="1106424" cy="4373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80615" y="4799076"/>
              <a:ext cx="448056" cy="9997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60675" y="5262372"/>
              <a:ext cx="289560" cy="2438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0743" y="5550408"/>
              <a:ext cx="448056" cy="69037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0" y="4204715"/>
            <a:ext cx="1216660" cy="594360"/>
            <a:chOff x="0" y="4204715"/>
            <a:chExt cx="1216660" cy="594360"/>
          </a:xfrm>
        </p:grpSpPr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4204715"/>
              <a:ext cx="492251" cy="43738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5780" y="4204715"/>
              <a:ext cx="690371" cy="594360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23900" y="4844796"/>
            <a:ext cx="492251" cy="437387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100064" y="2562809"/>
            <a:ext cx="3494404" cy="15055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065" marR="5080" algn="ctr">
              <a:lnSpc>
                <a:spcPts val="3870"/>
              </a:lnSpc>
              <a:spcBef>
                <a:spcPts val="400"/>
              </a:spcBef>
            </a:pPr>
            <a:r>
              <a:rPr sz="3400" b="1" dirty="0">
                <a:latin typeface="Calibri"/>
                <a:cs typeface="Calibri"/>
              </a:rPr>
              <a:t>Praktikum</a:t>
            </a:r>
            <a:r>
              <a:rPr sz="3400" b="1" spc="-185" dirty="0">
                <a:latin typeface="Calibri"/>
                <a:cs typeface="Calibri"/>
              </a:rPr>
              <a:t> </a:t>
            </a:r>
            <a:r>
              <a:rPr sz="3400" b="1" spc="-50" dirty="0">
                <a:latin typeface="Calibri"/>
                <a:cs typeface="Calibri"/>
              </a:rPr>
              <a:t>1 </a:t>
            </a:r>
            <a:r>
              <a:rPr sz="3400" b="1" dirty="0">
                <a:latin typeface="Calibri"/>
                <a:cs typeface="Calibri"/>
              </a:rPr>
              <a:t>Pengantar</a:t>
            </a:r>
            <a:r>
              <a:rPr sz="3400" b="1" spc="-19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SAS/IML</a:t>
            </a:r>
            <a:endParaRPr sz="3400" dirty="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320"/>
              </a:spcBef>
            </a:pPr>
            <a:r>
              <a:rPr sz="2700" dirty="0">
                <a:latin typeface="Calibri"/>
                <a:cs typeface="Calibri"/>
              </a:rPr>
              <a:t>Komputasi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 err="1">
                <a:latin typeface="Calibri"/>
                <a:cs typeface="Calibri"/>
              </a:rPr>
              <a:t>Statistika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P2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618" y="369930"/>
            <a:ext cx="6315709" cy="554459"/>
          </a:xfrm>
          <a:prstGeom prst="rect">
            <a:avLst/>
          </a:prstGeom>
        </p:spPr>
        <p:txBody>
          <a:bodyPr vert="horz" wrap="square" lIns="0" tIns="614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Kontrak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Praktikum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11" y="1473834"/>
            <a:ext cx="7765289" cy="282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indent="-376555">
              <a:lnSpc>
                <a:spcPts val="3160"/>
              </a:lnSpc>
              <a:spcBef>
                <a:spcPts val="100"/>
              </a:spcBef>
              <a:buSzPct val="85185"/>
              <a:buAutoNum type="arabicPeriod"/>
              <a:tabLst>
                <a:tab pos="389255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Pertemuan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255" indent="-376555">
              <a:lnSpc>
                <a:spcPts val="3080"/>
              </a:lnSpc>
              <a:buSzPct val="85185"/>
              <a:buAutoNum type="arabicPeriod"/>
              <a:tabLst>
                <a:tab pos="389255" algn="l"/>
              </a:tabLst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Kuis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pertemuan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32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255" indent="-376555">
              <a:lnSpc>
                <a:spcPts val="3080"/>
              </a:lnSpc>
              <a:buSzPct val="85185"/>
              <a:buAutoNum type="arabicPeriod"/>
              <a:tabLst>
                <a:tab pos="389255" algn="l"/>
              </a:tabLst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Kehadiran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wajib</a:t>
            </a:r>
            <a:r>
              <a:rPr sz="3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255" marR="5080" indent="-377190">
              <a:lnSpc>
                <a:spcPts val="3070"/>
              </a:lnSpc>
              <a:spcBef>
                <a:spcPts val="165"/>
              </a:spcBef>
              <a:buSzPct val="85185"/>
              <a:buAutoNum type="arabicPeriod"/>
              <a:tabLst>
                <a:tab pos="389255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</a:t>
            </a: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praktikum</a:t>
            </a:r>
            <a:r>
              <a:rPr sz="32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255">
              <a:lnSpc>
                <a:spcPts val="2930"/>
              </a:lnSpc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255">
              <a:lnSpc>
                <a:spcPts val="3085"/>
              </a:lnSpc>
            </a:pP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Kuis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255">
              <a:lnSpc>
                <a:spcPts val="3170"/>
              </a:lnSpc>
            </a:pPr>
            <a:r>
              <a:rPr sz="3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Keaktifan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4359" y="5399023"/>
            <a:ext cx="10181590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Persentase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kehadiran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peserta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responsi/praktikum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diperhitungkan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ketentuan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syarat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diperbolehkan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ikut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961" y="457169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SAS/IML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1860" y="1371600"/>
            <a:ext cx="10368280" cy="5133841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6350" algn="just">
              <a:lnSpc>
                <a:spcPts val="2620"/>
              </a:lnSpc>
              <a:spcBef>
                <a:spcPts val="305"/>
              </a:spcBef>
            </a:pP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sz="2300" spc="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lunak</a:t>
            </a:r>
            <a:r>
              <a:rPr sz="2300" spc="1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SAS/IML</a:t>
            </a:r>
            <a:r>
              <a:rPr sz="2300" spc="1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sz="2300" spc="1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sz="2300" spc="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komponen:</a:t>
            </a:r>
            <a:r>
              <a:rPr sz="2300" spc="1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sz="2300" spc="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IML</a:t>
            </a:r>
            <a:r>
              <a:rPr sz="2300" spc="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sz="2300" spc="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aplikasi SAS/IML®</a:t>
            </a:r>
            <a:r>
              <a:rPr sz="230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Studio.</a:t>
            </a: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2420"/>
              </a:spcBef>
            </a:pPr>
            <a:r>
              <a:rPr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IML</a:t>
            </a:r>
            <a:r>
              <a:rPr sz="2300" b="1" spc="-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sz="2300" spc="-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2300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sz="2300" spc="-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  <a:endParaRPr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5100"/>
              </a:lnSpc>
              <a:spcBef>
                <a:spcPts val="2620"/>
              </a:spcBef>
            </a:pPr>
            <a:r>
              <a:rPr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sz="23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IML</a:t>
            </a:r>
            <a:r>
              <a:rPr sz="2300" b="1" spc="-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sz="23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sz="2300" spc="-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komputasional</a:t>
            </a:r>
            <a:r>
              <a:rPr sz="23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sz="23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mengimplementasikan</a:t>
            </a:r>
            <a:r>
              <a:rPr sz="230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bahasa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SAS/IML</a:t>
            </a:r>
            <a:r>
              <a:rPr sz="2300" spc="4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sz="2300" spc="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sz="2300" spc="50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matriks.</a:t>
            </a:r>
            <a:r>
              <a:rPr sz="2300" spc="50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sz="2300" spc="5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sz="2300" spc="5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sz="2300" spc="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sz="2300" spc="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IML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sz="2300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sz="2300" spc="2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sz="2300" spc="2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300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SAS</a:t>
            </a:r>
            <a:r>
              <a:rPr sz="2300" spc="2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sz="2300" spc="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sz="2300" spc="2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sz="2300" spc="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sz="2300" spc="2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mencakup</a:t>
            </a:r>
            <a:r>
              <a:rPr sz="2300" spc="2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langkah- </a:t>
            </a:r>
            <a:r>
              <a:rPr sz="23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sz="2300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DATA,</a:t>
            </a:r>
            <a:r>
              <a:rPr sz="23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makro,</a:t>
            </a:r>
            <a:r>
              <a:rPr sz="2300"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sz="23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pemanggilan</a:t>
            </a:r>
            <a:r>
              <a:rPr sz="230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sz="2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3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5100"/>
              </a:lnSpc>
              <a:spcBef>
                <a:spcPts val="2620"/>
              </a:spcBef>
            </a:pP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IML (Interactive Matrix Language)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komputasi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aljabar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linear. PROC IML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SAS yang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mengimplementasikan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IML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 SAS yang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dikombinasikan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step, macro,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SAS </a:t>
            </a:r>
            <a:r>
              <a:rPr lang="en-ID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23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854A7A-4008-3444-424E-2CD808BD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05FE11-7485-5C03-7DDC-1D626D36C0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860" y="414495"/>
            <a:ext cx="7312661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OnDemand for Academics (ODA)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A09C613-FF2D-F94E-E6AC-1F9588A32C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22FC55D-742C-C43C-8D02-B4F6557A79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53AEB52-0488-4D59-5893-A97147FBADAA}"/>
              </a:ext>
            </a:extLst>
          </p:cNvPr>
          <p:cNvSpPr/>
          <p:nvPr/>
        </p:nvSpPr>
        <p:spPr>
          <a:xfrm>
            <a:off x="911860" y="990600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C8F0A-1757-347E-9E2B-F86261E7DE81}"/>
              </a:ext>
            </a:extLst>
          </p:cNvPr>
          <p:cNvSpPr txBox="1"/>
          <p:nvPr/>
        </p:nvSpPr>
        <p:spPr>
          <a:xfrm>
            <a:off x="838200" y="1164339"/>
            <a:ext cx="10668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OnDemand for Academics (ODA)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mahasiswa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gratis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 Studio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peramban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 Untuk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selengkapnya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2400" dirty="0">
                <a:solidFill>
                  <a:srgbClr val="3E3E3E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https://libguides.library.kent.edu/SAS/</a:t>
            </a:r>
            <a:r>
              <a:rPr lang="en-ID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OnDemand</a:t>
            </a:r>
            <a:endParaRPr lang="en-ID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Bagian 1: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Mengenal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 Studio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Buka SAS Studio.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Perhatikan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menulis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eksekusi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Jalankan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kosong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amati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LOG.</a:t>
            </a:r>
          </a:p>
        </p:txBody>
      </p:sp>
    </p:spTree>
    <p:extLst>
      <p:ext uri="{BB962C8B-B14F-4D97-AF65-F5344CB8AC3E}">
        <p14:creationId xmlns:p14="http://schemas.microsoft.com/office/powerpoint/2010/main" val="403671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7DF5C1-16F7-4AED-6B87-1231EE1F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3D340B-1733-18F8-2D01-A3236672C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275081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Dasar Teori </a:t>
            </a:r>
            <a:r>
              <a:rPr lang="en-US" sz="31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Singkat</a:t>
            </a:r>
            <a:r>
              <a:rPr lang="en-US" sz="3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B916F3-AEE0-7293-E46E-CBD0918D43D9}"/>
              </a:ext>
            </a:extLst>
          </p:cNvPr>
          <p:cNvSpPr txBox="1"/>
          <p:nvPr/>
        </p:nvSpPr>
        <p:spPr>
          <a:xfrm>
            <a:off x="911860" y="1371600"/>
            <a:ext cx="10368280" cy="4471096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SAS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SAS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terdiri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step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memodifikasi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step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menganalisis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Step</a:t>
            </a:r>
          </a:p>
          <a:p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membaca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(manual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file)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Step</a:t>
            </a:r>
          </a:p>
          <a:p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print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means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deskriptif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2166F15-630B-F14B-5FD7-14D8DD76CC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420541B-5D88-FF2C-1E9B-6E0F97E424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1613B71-3023-1763-9F25-6D224624F064}"/>
              </a:ext>
            </a:extLst>
          </p:cNvPr>
          <p:cNvSpPr/>
          <p:nvPr/>
        </p:nvSpPr>
        <p:spPr>
          <a:xfrm>
            <a:off x="911860" y="990600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511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7BAC75-F627-B220-2A08-0330DE73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3E113B-741C-D2BB-5FF9-8D6A69EEC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3398" y="327626"/>
            <a:ext cx="7388861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 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Simbol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Tanda 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SAS</a:t>
            </a:r>
            <a:endParaRPr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9551D9A-7DA8-35C6-8F8F-06506094F8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16E8DE6-75BB-AEC6-E123-149B06D632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CFCAA52-D27E-DA41-FEB6-0C772158A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0306"/>
              </p:ext>
            </p:extLst>
          </p:nvPr>
        </p:nvGraphicFramePr>
        <p:xfrm>
          <a:off x="725169" y="1066800"/>
          <a:ext cx="10741661" cy="518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4735">
                  <a:extLst>
                    <a:ext uri="{9D8B030D-6E8A-4147-A177-3AD203B41FA5}">
                      <a16:colId xmlns:a16="http://schemas.microsoft.com/office/drawing/2014/main" val="359381890"/>
                    </a:ext>
                  </a:extLst>
                </a:gridCol>
                <a:gridCol w="2431323">
                  <a:extLst>
                    <a:ext uri="{9D8B030D-6E8A-4147-A177-3AD203B41FA5}">
                      <a16:colId xmlns:a16="http://schemas.microsoft.com/office/drawing/2014/main" val="2860513978"/>
                    </a:ext>
                  </a:extLst>
                </a:gridCol>
                <a:gridCol w="6835603">
                  <a:extLst>
                    <a:ext uri="{9D8B030D-6E8A-4147-A177-3AD203B41FA5}">
                      <a16:colId xmlns:a16="http://schemas.microsoft.com/office/drawing/2014/main" val="1592046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Nama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Fungsi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5642342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/* ... */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Komentar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Digunakan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menulis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komentar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program SAS,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dieksekusi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54192248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... ;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Komentar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Bentuk komentar satu baris, harus diakhiri dengan titik koma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375691885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Titik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Menandai akhir dari sebuah pernyataan (statement) SAS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123230943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Karakter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Menunjukkan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bahwa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variabel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bertipe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karakter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teks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317330256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Memberikan nilai ke suatu variabel</a:t>
                      </a:r>
                      <a:endParaRPr lang="fi-FI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129490279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Penjumlahan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aritmetika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penjumlahan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388896714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Pengurangan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aritmetika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pengurangan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4707668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Perkalian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aritmetika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perkalian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262490328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Pembagian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aritmetika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pembagian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93350034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Pangkat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perpangkatan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336074267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Lebih kecil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perbandingan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274187945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Lebih besar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perbandingan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202103921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Kurang dari sama dengan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273704988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Lebih dari sama dengan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298241558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 dengan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perbandingan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6" marR="3866" marT="3866" marB="0" anchor="b"/>
                </a:tc>
                <a:extLst>
                  <a:ext uri="{0D108BD9-81ED-4DB2-BD59-A6C34878D82A}">
                    <a16:rowId xmlns:a16="http://schemas.microsoft.com/office/drawing/2014/main" val="286951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48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A6F98C-9D8F-5D2C-E494-D70A3CE9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2FDF69D-0F7C-A61D-C622-6468BF70FA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18F69A8-C877-D93E-AF22-411EE67209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86D0FD-C2EC-F6CA-62BE-669F1FF85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042136"/>
              </p:ext>
            </p:extLst>
          </p:nvPr>
        </p:nvGraphicFramePr>
        <p:xfrm>
          <a:off x="1028700" y="816862"/>
          <a:ext cx="10134599" cy="5768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1393">
                  <a:extLst>
                    <a:ext uri="{9D8B030D-6E8A-4147-A177-3AD203B41FA5}">
                      <a16:colId xmlns:a16="http://schemas.microsoft.com/office/drawing/2014/main" val="3788830155"/>
                    </a:ext>
                  </a:extLst>
                </a:gridCol>
                <a:gridCol w="2293916">
                  <a:extLst>
                    <a:ext uri="{9D8B030D-6E8A-4147-A177-3AD203B41FA5}">
                      <a16:colId xmlns:a16="http://schemas.microsoft.com/office/drawing/2014/main" val="2999257442"/>
                    </a:ext>
                  </a:extLst>
                </a:gridCol>
                <a:gridCol w="6449290">
                  <a:extLst>
                    <a:ext uri="{9D8B030D-6E8A-4147-A177-3AD203B41FA5}">
                      <a16:colId xmlns:a16="http://schemas.microsoft.com/office/drawing/2014/main" val="2516070920"/>
                    </a:ext>
                  </a:extLst>
                </a:gridCol>
              </a:tblGrid>
              <a:tr h="3845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Nama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Fungsi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2262777210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^=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~=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4176966191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n-NO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Menyatakan data hilang untuk numerik</a:t>
                      </a:r>
                      <a:endParaRPr lang="nn-NO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4017940163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 ' atau " "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Tanda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petik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Menyatakan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nilai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karakter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164164185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Pemisah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argumen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fungsi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/proc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606402964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Colon modifier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Membaca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awalan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tertentu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3367215139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Mengontrol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pembacaan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3901826507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@@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pointer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Menahan baris data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berikutnya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3268124975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Tanda kurung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Mengelompokkan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ekspresi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3398111840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{}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Kurung kurawal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Digunakan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 IML (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matriks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4112414413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[]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Kurung siku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Digunakan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indeks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array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4074568183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elemen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-per-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</a:t>
                      </a: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(IML)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3174922556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 AND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374861451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 OR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4073355078"/>
                  </a:ext>
                </a:extLst>
              </a:tr>
              <a:tr h="3845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 NOT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</a:t>
                      </a:r>
                      <a:r>
                        <a:rPr lang="en-ID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40298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33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920BC1-2070-8010-4EFE-F8CE066F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7ABCCD-41FB-64F5-ECB6-1512F5C456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275081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sz="3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  <a:r>
              <a:rPr lang="en-US" sz="31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5B04EB5-E9E4-CE49-B108-7BA8421B70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7C195AA-0BCF-E66E-275A-FB2B2C8CE7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2DD4001-C0EA-1B09-1E8F-3DE75FF1AC67}"/>
              </a:ext>
            </a:extLst>
          </p:cNvPr>
          <p:cNvSpPr/>
          <p:nvPr/>
        </p:nvSpPr>
        <p:spPr>
          <a:xfrm>
            <a:off x="911860" y="990600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E82A6-C117-8B32-E3CD-0A4783727ED6}"/>
              </a:ext>
            </a:extLst>
          </p:cNvPr>
          <p:cNvSpPr txBox="1"/>
          <p:nvPr/>
        </p:nvSpPr>
        <p:spPr>
          <a:xfrm>
            <a:off x="893444" y="1720840"/>
            <a:ext cx="104051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*/ </a:t>
            </a:r>
            <a:r>
              <a:rPr lang="en-US" sz="2400" dirty="0" err="1">
                <a:latin typeface="Consolas" panose="020B0609020204030204" pitchFamily="49" charset="0"/>
              </a:rPr>
              <a:t>Contoh</a:t>
            </a:r>
            <a:r>
              <a:rPr lang="en-US" sz="2400" dirty="0">
                <a:latin typeface="Consolas" panose="020B0609020204030204" pitchFamily="49" charset="0"/>
              </a:rPr>
              <a:t> 1 */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komentar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data </a:t>
            </a:r>
            <a:r>
              <a:rPr lang="en-US" sz="2400" dirty="0" err="1">
                <a:latin typeface="Consolas" panose="020B0609020204030204" pitchFamily="49" charset="0"/>
              </a:rPr>
              <a:t>contoh</a:t>
            </a:r>
            <a:r>
              <a:rPr lang="en-US" sz="2400" dirty="0">
                <a:latin typeface="Consolas" panose="020B0609020204030204" pitchFamily="49" charset="0"/>
              </a:rPr>
              <a:t>;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nama </a:t>
            </a:r>
            <a:r>
              <a:rPr lang="en-ID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input x y;	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it-I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contoh memiliki </a:t>
            </a:r>
            <a:r>
              <a:rPr lang="it-IT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 variabel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err="1">
                <a:latin typeface="Consolas" panose="020B0609020204030204" pitchFamily="49" charset="0"/>
              </a:rPr>
              <a:t>datalines</a:t>
            </a:r>
            <a:r>
              <a:rPr lang="en-US" sz="2400" dirty="0">
                <a:latin typeface="Consolas" panose="020B0609020204030204" pitchFamily="49" charset="0"/>
              </a:rPr>
              <a:t>;	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ditulis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1 2		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Input data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3 4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;		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Akhir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</a:rPr>
              <a:t>run;			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Mengeksekusi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step dan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benar-benar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6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1009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62C050-38AE-7DC2-4186-DD6CD70454AF}"/>
              </a:ext>
            </a:extLst>
          </p:cNvPr>
          <p:cNvSpPr txBox="1"/>
          <p:nvPr/>
        </p:nvSpPr>
        <p:spPr>
          <a:xfrm>
            <a:off x="870857" y="1501143"/>
            <a:ext cx="9829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D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proc print;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# Proc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singkatan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</a:t>
            </a:r>
          </a:p>
          <a:p>
            <a:pPr algn="l" rtl="0"/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#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rint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untuk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D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run;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#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SAS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mengeksekusi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 PRINT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Perhatikan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tab RESULTS.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E1B746-703F-5707-B2BB-43F10B1A2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877316"/>
            <a:ext cx="1981200" cy="20340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B41BEB-6E91-03D9-7FAA-57F15A84FC65}"/>
              </a:ext>
            </a:extLst>
          </p:cNvPr>
          <p:cNvSpPr txBox="1"/>
          <p:nvPr/>
        </p:nvSpPr>
        <p:spPr>
          <a:xfrm>
            <a:off x="6400800" y="470966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</a:t>
            </a:r>
            <a:endParaRPr lang="en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1C2CE1-11F7-3897-79E2-6D70E6F1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0D9D2F-72C2-9337-9756-2AF8C8456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51009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16365C6-76E1-9159-1F6F-56502A0C2A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F9B4F0E-8914-53E6-BECA-1DAB10C9AF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6EA4689-96E9-048A-FFF9-69FFAA9F6A13}"/>
              </a:ext>
            </a:extLst>
          </p:cNvPr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36DB1-9424-0340-20C8-38B73DD25189}"/>
              </a:ext>
            </a:extLst>
          </p:cNvPr>
          <p:cNvSpPr txBox="1"/>
          <p:nvPr/>
        </p:nvSpPr>
        <p:spPr>
          <a:xfrm>
            <a:off x="870856" y="1501143"/>
            <a:ext cx="103305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 beberapa notes yang perlu diperhatikan:</a:t>
            </a:r>
          </a:p>
          <a:p>
            <a:pPr marL="342900" indent="-342900" algn="just">
              <a:buAutoNum type="arabicPeriod"/>
            </a:pPr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tidak disebutkan nama dataset, SAS akan otomatis menampilkan dataset terakhir yang dibuat atau diakses.</a:t>
            </a:r>
          </a:p>
          <a:p>
            <a:pPr marL="342900" indent="-342900" algn="just">
              <a:buAutoNum type="arabicPeriod"/>
            </a:pPr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Tanpa 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run;,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dijalankan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menunggu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step. DATA step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memodifikasi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 PRINT, dataset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946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EF2032-390D-07FA-ABF1-98F32035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4CDFA0-CE3E-5F40-CBA9-415946F882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51009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Statistika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Deskriptif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D118797-4586-EA40-B0E2-60E5D7F836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02FF2C47-CAD2-C350-A0D5-B2A51EF30B8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5BDE281-266C-1AB5-E2B7-BEE616931EDF}"/>
              </a:ext>
            </a:extLst>
          </p:cNvPr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1005F-064F-57B8-CA9C-3DE9EA4246FC}"/>
              </a:ext>
            </a:extLst>
          </p:cNvPr>
          <p:cNvSpPr txBox="1"/>
          <p:nvPr/>
        </p:nvSpPr>
        <p:spPr>
          <a:xfrm>
            <a:off x="870856" y="1501143"/>
            <a:ext cx="103305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Kode SAS untuk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deskriptif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yaitu :</a:t>
            </a:r>
          </a:p>
          <a:p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means;</a:t>
            </a:r>
          </a:p>
          <a:p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run;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MEANS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deskriptif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 Hanya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dihitung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diabaikan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default, PROC MEANS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F72EF5-D30D-D50B-9BC6-BF1860C7C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045834"/>
              </p:ext>
            </p:extLst>
          </p:nvPr>
        </p:nvGraphicFramePr>
        <p:xfrm>
          <a:off x="1868897" y="3962400"/>
          <a:ext cx="8454206" cy="21248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684096513"/>
                    </a:ext>
                  </a:extLst>
                </a:gridCol>
                <a:gridCol w="5939606">
                  <a:extLst>
                    <a:ext uri="{9D8B030D-6E8A-4147-A177-3AD203B41FA5}">
                      <a16:colId xmlns:a16="http://schemas.microsoft.com/office/drawing/2014/main" val="3910913302"/>
                    </a:ext>
                  </a:extLst>
                </a:gridCol>
              </a:tblGrid>
              <a:tr h="2989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Statistik</a:t>
                      </a:r>
                      <a:endParaRPr lang="en-ID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745" marR="74745" marT="37372" marB="37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</a:t>
                      </a:r>
                    </a:p>
                  </a:txBody>
                  <a:tcPr marL="74745" marR="74745" marT="37372" marB="37372" anchor="ctr"/>
                </a:tc>
                <a:extLst>
                  <a:ext uri="{0D108BD9-81ED-4DB2-BD59-A6C34878D82A}">
                    <a16:rowId xmlns:a16="http://schemas.microsoft.com/office/drawing/2014/main" val="2424761083"/>
                  </a:ext>
                </a:extLst>
              </a:tr>
              <a:tr h="29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4745" marR="74745" marT="37372" marB="37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 observasi (tidak termasuk missing)</a:t>
                      </a:r>
                    </a:p>
                  </a:txBody>
                  <a:tcPr marL="74745" marR="74745" marT="37372" marB="37372" anchor="ctr"/>
                </a:tc>
                <a:extLst>
                  <a:ext uri="{0D108BD9-81ED-4DB2-BD59-A6C34878D82A}">
                    <a16:rowId xmlns:a16="http://schemas.microsoft.com/office/drawing/2014/main" val="4009406461"/>
                  </a:ext>
                </a:extLst>
              </a:tr>
              <a:tr h="29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74745" marR="74745" marT="37372" marB="37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Nilai rata-rata</a:t>
                      </a:r>
                    </a:p>
                  </a:txBody>
                  <a:tcPr marL="74745" marR="74745" marT="37372" marB="37372" anchor="ctr"/>
                </a:tc>
                <a:extLst>
                  <a:ext uri="{0D108BD9-81ED-4DB2-BD59-A6C34878D82A}">
                    <a16:rowId xmlns:a16="http://schemas.microsoft.com/office/drawing/2014/main" val="3241659060"/>
                  </a:ext>
                </a:extLst>
              </a:tr>
              <a:tr h="29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 Dev</a:t>
                      </a:r>
                    </a:p>
                  </a:txBody>
                  <a:tcPr marL="74745" marR="74745" marT="37372" marB="37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Simpangan baku</a:t>
                      </a:r>
                    </a:p>
                  </a:txBody>
                  <a:tcPr marL="74745" marR="74745" marT="37372" marB="37372" anchor="ctr"/>
                </a:tc>
                <a:extLst>
                  <a:ext uri="{0D108BD9-81ED-4DB2-BD59-A6C34878D82A}">
                    <a16:rowId xmlns:a16="http://schemas.microsoft.com/office/drawing/2014/main" val="272124348"/>
                  </a:ext>
                </a:extLst>
              </a:tr>
              <a:tr h="29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</a:t>
                      </a:r>
                    </a:p>
                  </a:txBody>
                  <a:tcPr marL="74745" marR="74745" marT="37372" marB="37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Nilai minimum</a:t>
                      </a:r>
                    </a:p>
                  </a:txBody>
                  <a:tcPr marL="74745" marR="74745" marT="37372" marB="37372" anchor="ctr"/>
                </a:tc>
                <a:extLst>
                  <a:ext uri="{0D108BD9-81ED-4DB2-BD59-A6C34878D82A}">
                    <a16:rowId xmlns:a16="http://schemas.microsoft.com/office/drawing/2014/main" val="3568850883"/>
                  </a:ext>
                </a:extLst>
              </a:tr>
              <a:tr h="298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</a:t>
                      </a:r>
                    </a:p>
                  </a:txBody>
                  <a:tcPr marL="74745" marR="74745" marT="37372" marB="37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Nilai </a:t>
                      </a:r>
                      <a:r>
                        <a:rPr lang="en-ID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maksimum</a:t>
                      </a:r>
                      <a:endParaRPr lang="en-ID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745" marR="74745" marT="37372" marB="37372" anchor="ctr"/>
                </a:tc>
                <a:extLst>
                  <a:ext uri="{0D108BD9-81ED-4DB2-BD59-A6C34878D82A}">
                    <a16:rowId xmlns:a16="http://schemas.microsoft.com/office/drawing/2014/main" val="325346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02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5927D0-460F-47C5-9785-25752398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81760FE-2DBC-09F0-3143-5C33C765C2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10FE5E64-E6CD-6E51-3EFA-8C7D3A1CFBE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5FC78A-23F4-F12F-2CFE-529B5F851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752" y="4114800"/>
            <a:ext cx="6610990" cy="18723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860AC0-DEFB-97A7-D4A2-761EC969AD90}"/>
              </a:ext>
            </a:extLst>
          </p:cNvPr>
          <p:cNvSpPr txBox="1"/>
          <p:nvPr/>
        </p:nvSpPr>
        <p:spPr>
          <a:xfrm>
            <a:off x="990600" y="544828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ID" sz="2000" b="0" i="0" dirty="0" err="1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Contoh</a:t>
            </a: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 1 */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ID" sz="2000" b="0" i="0" dirty="0" err="1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Tahapan</a:t>
            </a: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 DATA */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lang="en-ID" sz="2000" b="0" i="0" dirty="0" err="1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contoh</a:t>
            </a: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input x y;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 err="1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datalines</a:t>
            </a: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1 2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3 4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run;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ID" sz="2000" b="0" i="0" dirty="0" err="1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Tahapan</a:t>
            </a: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 PROC */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proc print;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run;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proc means;</a:t>
            </a:r>
            <a:b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</a:br>
            <a:r>
              <a:rPr lang="en-ID" sz="2000" b="0" i="0" dirty="0">
                <a:solidFill>
                  <a:srgbClr val="020202"/>
                </a:solidFill>
                <a:effectLst/>
                <a:latin typeface="Consolas" panose="020B0609020204030204" pitchFamily="49" charset="0"/>
              </a:rPr>
              <a:t>run;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E0BCC-F7AB-2B75-5199-22827D29632C}"/>
              </a:ext>
            </a:extLst>
          </p:cNvPr>
          <p:cNvSpPr txBox="1"/>
          <p:nvPr/>
        </p:nvSpPr>
        <p:spPr>
          <a:xfrm>
            <a:off x="4267200" y="487547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endParaRPr lang="en-ID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59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EBE162-00B2-07E0-3DF6-D8A2B7A4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F0F73E-20F3-F4EB-64CE-83F7F4011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51009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Mengenal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59654A4-B721-8CE7-D51A-AF88F1F930A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C21EBFA3-5F34-E967-80B1-509D184D28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340D0CE-D0F4-554F-4B42-1C2D917C6F8D}"/>
              </a:ext>
            </a:extLst>
          </p:cNvPr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F324F-FBD4-E62C-20B6-E8BBF189010D}"/>
              </a:ext>
            </a:extLst>
          </p:cNvPr>
          <p:cNvSpPr txBox="1"/>
          <p:nvPr/>
        </p:nvSpPr>
        <p:spPr>
          <a:xfrm>
            <a:off x="870856" y="1501143"/>
            <a:ext cx="10330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latin typeface="Consolas" panose="020B0609020204030204" pitchFamily="49" charset="0"/>
              </a:rPr>
              <a:t>data salah;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input </a:t>
            </a:r>
            <a:r>
              <a:rPr lang="en-ID" sz="2000" dirty="0" err="1">
                <a:latin typeface="Consolas" panose="020B0609020204030204" pitchFamily="49" charset="0"/>
              </a:rPr>
              <a:t>umur</a:t>
            </a:r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 err="1">
                <a:latin typeface="Consolas" panose="020B0609020204030204" pitchFamily="49" charset="0"/>
              </a:rPr>
              <a:t>datalines</a:t>
            </a:r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dua </a:t>
            </a:r>
            <a:r>
              <a:rPr lang="en-ID" sz="2000" dirty="0" err="1">
                <a:latin typeface="Consolas" panose="020B0609020204030204" pitchFamily="49" charset="0"/>
              </a:rPr>
              <a:t>puluh</a:t>
            </a:r>
            <a:endParaRPr lang="en-ID" sz="2000" dirty="0">
              <a:latin typeface="Consolas" panose="020B0609020204030204" pitchFamily="49" charset="0"/>
            </a:endParaRPr>
          </a:p>
          <a:p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run;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CB61E-7E6F-D185-935B-D59DDEBA7664}"/>
              </a:ext>
            </a:extLst>
          </p:cNvPr>
          <p:cNvSpPr txBox="1"/>
          <p:nvPr/>
        </p:nvSpPr>
        <p:spPr>
          <a:xfrm>
            <a:off x="3996054" y="20243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NOTE: Invalid data for umur in line 72 1-3.</a:t>
            </a:r>
          </a:p>
          <a:p>
            <a:r>
              <a:rPr lang="en-US" dirty="0">
                <a:latin typeface="Consolas" panose="020B0609020204030204" pitchFamily="49" charset="0"/>
              </a:rPr>
              <a:t>umur=. _ERROR_=1 _N_=1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B34D2-915E-28E9-CDC7-814F18E3ECC0}"/>
              </a:ext>
            </a:extLst>
          </p:cNvPr>
          <p:cNvSpPr txBox="1"/>
          <p:nvPr/>
        </p:nvSpPr>
        <p:spPr>
          <a:xfrm>
            <a:off x="3996054" y="1501143"/>
            <a:ext cx="6286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Setelah kode dijalankan, muncul pesan LOG: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B6D1E-8609-9381-AC5C-F0B08C54ED9A}"/>
              </a:ext>
            </a:extLst>
          </p:cNvPr>
          <p:cNvSpPr txBox="1"/>
          <p:nvPr/>
        </p:nvSpPr>
        <p:spPr>
          <a:xfrm>
            <a:off x="927913" y="3782275"/>
            <a:ext cx="9872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pembacaan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didefinisikan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value (.),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menandai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_ERROR_=1,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46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E9C8C3-25AA-60C8-6D4C-6CA2AB82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63E145-BF5E-52FB-3008-BC928DC78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51009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Mengenal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4267510-8287-994A-C372-2DE113E926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7697E2DD-5DCA-076F-F420-E440198163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8658C77-D9CE-263E-A480-CAC0D5942419}"/>
              </a:ext>
            </a:extLst>
          </p:cNvPr>
          <p:cNvSpPr/>
          <p:nvPr/>
        </p:nvSpPr>
        <p:spPr>
          <a:xfrm>
            <a:off x="838961" y="1159002"/>
            <a:ext cx="8900160" cy="0"/>
          </a:xfrm>
          <a:custGeom>
            <a:avLst/>
            <a:gdLst/>
            <a:ahLst/>
            <a:cxnLst/>
            <a:rect l="l" t="t" r="r" b="b"/>
            <a:pathLst>
              <a:path w="8900160">
                <a:moveTo>
                  <a:pt x="0" y="0"/>
                </a:moveTo>
                <a:lnTo>
                  <a:pt x="8900160" y="0"/>
                </a:lnTo>
              </a:path>
            </a:pathLst>
          </a:custGeom>
          <a:ln w="38100">
            <a:solidFill>
              <a:srgbClr val="4471C4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D1E4C-BF35-F987-C628-DA1EDE6ED8AC}"/>
              </a:ext>
            </a:extLst>
          </p:cNvPr>
          <p:cNvSpPr txBox="1"/>
          <p:nvPr/>
        </p:nvSpPr>
        <p:spPr>
          <a:xfrm>
            <a:off x="870856" y="1501143"/>
            <a:ext cx="103305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latin typeface="Consolas" panose="020B0609020204030204" pitchFamily="49" charset="0"/>
              </a:rPr>
              <a:t>data salah;</a:t>
            </a:r>
          </a:p>
          <a:p>
            <a:r>
              <a:rPr lang="en-ID" sz="3200" dirty="0">
                <a:latin typeface="Consolas" panose="020B0609020204030204" pitchFamily="49" charset="0"/>
              </a:rPr>
              <a:t>input </a:t>
            </a:r>
            <a:r>
              <a:rPr lang="en-ID" sz="3200" dirty="0" err="1">
                <a:latin typeface="Consolas" panose="020B0609020204030204" pitchFamily="49" charset="0"/>
              </a:rPr>
              <a:t>umur</a:t>
            </a:r>
            <a:r>
              <a:rPr lang="en-ID" sz="3200" dirty="0">
                <a:latin typeface="Consolas" panose="020B0609020204030204" pitchFamily="49" charset="0"/>
              </a:rPr>
              <a:t>;</a:t>
            </a:r>
          </a:p>
          <a:p>
            <a:r>
              <a:rPr lang="en-ID" sz="3200" dirty="0" err="1">
                <a:latin typeface="Consolas" panose="020B0609020204030204" pitchFamily="49" charset="0"/>
              </a:rPr>
              <a:t>datalines</a:t>
            </a:r>
            <a:r>
              <a:rPr lang="en-ID" sz="3200" dirty="0">
                <a:latin typeface="Consolas" panose="020B0609020204030204" pitchFamily="49" charset="0"/>
              </a:rPr>
              <a:t>;</a:t>
            </a:r>
          </a:p>
          <a:p>
            <a:r>
              <a:rPr lang="en-ID" sz="3200" dirty="0">
                <a:latin typeface="Consolas" panose="020B0609020204030204" pitchFamily="49" charset="0"/>
              </a:rPr>
              <a:t>dua </a:t>
            </a:r>
            <a:r>
              <a:rPr lang="en-ID" sz="3200" dirty="0" err="1">
                <a:latin typeface="Consolas" panose="020B0609020204030204" pitchFamily="49" charset="0"/>
              </a:rPr>
              <a:t>puluh</a:t>
            </a:r>
            <a:endParaRPr lang="en-ID" sz="3200" dirty="0">
              <a:latin typeface="Consolas" panose="020B0609020204030204" pitchFamily="49" charset="0"/>
            </a:endParaRPr>
          </a:p>
          <a:p>
            <a:r>
              <a:rPr lang="en-ID" sz="3200" dirty="0">
                <a:latin typeface="Consolas" panose="020B0609020204030204" pitchFamily="49" charset="0"/>
              </a:rPr>
              <a:t>;</a:t>
            </a:r>
          </a:p>
          <a:p>
            <a:r>
              <a:rPr lang="en-ID" sz="3200" dirty="0">
                <a:latin typeface="Consolas" panose="020B0609020204030204" pitchFamily="49" charset="0"/>
              </a:rPr>
              <a:t>run;</a:t>
            </a:r>
          </a:p>
        </p:txBody>
      </p:sp>
    </p:spTree>
    <p:extLst>
      <p:ext uri="{BB962C8B-B14F-4D97-AF65-F5344CB8AC3E}">
        <p14:creationId xmlns:p14="http://schemas.microsoft.com/office/powerpoint/2010/main" val="405165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DC8C8A-6F1F-EC35-95D6-FE9F30DB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C499D9-DD94-946B-6CC7-E809626EB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86" y="360283"/>
            <a:ext cx="6315709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60A0BD2-58F5-9FC6-6AA9-274B8F50A1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E8B8C28D-D93B-880F-6819-AFD431C8A7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B53598-2E22-9C3F-F1BA-DD638F096850}"/>
              </a:ext>
            </a:extLst>
          </p:cNvPr>
          <p:cNvSpPr txBox="1"/>
          <p:nvPr/>
        </p:nvSpPr>
        <p:spPr>
          <a:xfrm>
            <a:off x="849086" y="940245"/>
            <a:ext cx="103523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latin typeface="Consolas" panose="020B0609020204030204" pitchFamily="49" charset="0"/>
              </a:rPr>
              <a:t>/* </a:t>
            </a:r>
            <a:r>
              <a:rPr lang="en-ID" sz="2000" dirty="0" err="1">
                <a:latin typeface="Consolas" panose="020B0609020204030204" pitchFamily="49" charset="0"/>
              </a:rPr>
              <a:t>Contoh</a:t>
            </a:r>
            <a:r>
              <a:rPr lang="en-ID" sz="2000" dirty="0">
                <a:latin typeface="Consolas" panose="020B0609020204030204" pitchFamily="49" charset="0"/>
              </a:rPr>
              <a:t> 2 */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/* </a:t>
            </a:r>
            <a:r>
              <a:rPr lang="en-ID" sz="2000" dirty="0" err="1">
                <a:latin typeface="Consolas" panose="020B0609020204030204" pitchFamily="49" charset="0"/>
              </a:rPr>
              <a:t>Tahapan</a:t>
            </a:r>
            <a:r>
              <a:rPr lang="en-ID" sz="2000" dirty="0">
                <a:latin typeface="Consolas" panose="020B0609020204030204" pitchFamily="49" charset="0"/>
              </a:rPr>
              <a:t> DATA */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data </a:t>
            </a:r>
            <a:r>
              <a:rPr lang="en-ID" sz="2000" dirty="0" err="1">
                <a:latin typeface="Consolas" panose="020B0609020204030204" pitchFamily="49" charset="0"/>
              </a:rPr>
              <a:t>mhs</a:t>
            </a:r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    input nama $ nim $ </a:t>
            </a:r>
            <a:r>
              <a:rPr lang="en-ID" sz="2000" dirty="0" err="1">
                <a:latin typeface="Consolas" panose="020B0609020204030204" pitchFamily="49" charset="0"/>
              </a:rPr>
              <a:t>jk</a:t>
            </a:r>
            <a:r>
              <a:rPr lang="en-ID" sz="2000" dirty="0">
                <a:latin typeface="Consolas" panose="020B0609020204030204" pitchFamily="49" charset="0"/>
              </a:rPr>
              <a:t> $ </a:t>
            </a:r>
            <a:r>
              <a:rPr lang="en-ID" sz="2000" dirty="0" err="1">
                <a:latin typeface="Consolas" panose="020B0609020204030204" pitchFamily="49" charset="0"/>
              </a:rPr>
              <a:t>umur</a:t>
            </a:r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    </a:t>
            </a:r>
            <a:r>
              <a:rPr lang="en-ID" sz="2000" dirty="0" err="1">
                <a:latin typeface="Consolas" panose="020B0609020204030204" pitchFamily="49" charset="0"/>
              </a:rPr>
              <a:t>datalines</a:t>
            </a:r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Ali Imron   G1415001  1  rip</a:t>
            </a:r>
          </a:p>
          <a:p>
            <a:r>
              <a:rPr lang="en-ID" sz="2000" dirty="0" err="1">
                <a:latin typeface="Consolas" panose="020B0609020204030204" pitchFamily="49" charset="0"/>
              </a:rPr>
              <a:t>Budianti</a:t>
            </a:r>
            <a:r>
              <a:rPr lang="en-ID" sz="2000" dirty="0">
                <a:latin typeface="Consolas" panose="020B0609020204030204" pitchFamily="49" charset="0"/>
              </a:rPr>
              <a:t> G1415002  2  21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Cece  G1415003  1  20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Ririn G1415005  2  19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Dory  G1415006  2  22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Zain  G1415009  1  22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Dudin G1415010  1  23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run;</a:t>
            </a:r>
          </a:p>
          <a:p>
            <a:endParaRPr lang="en-ID" sz="2000" dirty="0">
              <a:latin typeface="Consolas" panose="020B0609020204030204" pitchFamily="49" charset="0"/>
            </a:endParaRPr>
          </a:p>
          <a:p>
            <a:r>
              <a:rPr lang="en-ID" sz="2000" dirty="0">
                <a:latin typeface="Consolas" panose="020B0609020204030204" pitchFamily="49" charset="0"/>
              </a:rPr>
              <a:t>/* </a:t>
            </a:r>
            <a:r>
              <a:rPr lang="en-ID" sz="2000" dirty="0" err="1">
                <a:latin typeface="Consolas" panose="020B0609020204030204" pitchFamily="49" charset="0"/>
              </a:rPr>
              <a:t>Tahapan</a:t>
            </a:r>
            <a:r>
              <a:rPr lang="en-ID" sz="2000" dirty="0">
                <a:latin typeface="Consolas" panose="020B0609020204030204" pitchFamily="49" charset="0"/>
              </a:rPr>
              <a:t> PROC */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proc print;</a:t>
            </a:r>
          </a:p>
          <a:p>
            <a:r>
              <a:rPr lang="en-ID" sz="2000" dirty="0">
                <a:latin typeface="Consolas" panose="020B0609020204030204" pitchFamily="49" charset="0"/>
              </a:rPr>
              <a:t>run;</a:t>
            </a:r>
          </a:p>
        </p:txBody>
      </p:sp>
    </p:spTree>
    <p:extLst>
      <p:ext uri="{BB962C8B-B14F-4D97-AF65-F5344CB8AC3E}">
        <p14:creationId xmlns:p14="http://schemas.microsoft.com/office/powerpoint/2010/main" val="277236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D88CEA-E42E-3D6F-B16B-2F0336A2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790C0189-F516-58C5-4F9F-CFD2A28CB9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AFE5509B-4178-4635-B70C-D5C35F7E74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BB704-CCF0-8F0B-5919-01514A022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186" y="1709497"/>
            <a:ext cx="9097645" cy="3439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A3378B-DD66-3E23-A791-ACB2DC72CC87}"/>
              </a:ext>
            </a:extLst>
          </p:cNvPr>
          <p:cNvSpPr txBox="1"/>
          <p:nvPr/>
        </p:nvSpPr>
        <p:spPr>
          <a:xfrm>
            <a:off x="1648186" y="118619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Output:</a:t>
            </a:r>
            <a:endParaRPr lang="en-ID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28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F6A599-3985-2B0F-70FE-BE837CCB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B699C0D-D712-34EE-7A02-0EFE678105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A7775A5A-6DEC-D4D6-CEA0-438699B8B6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89B2CA-2134-6267-905E-EBCCB5A521CA}"/>
              </a:ext>
            </a:extLst>
          </p:cNvPr>
          <p:cNvSpPr txBox="1"/>
          <p:nvPr/>
        </p:nvSpPr>
        <p:spPr>
          <a:xfrm>
            <a:off x="609600" y="1076593"/>
            <a:ext cx="46645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Solusi 1:</a:t>
            </a:r>
          </a:p>
          <a:p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Ubah data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pemisah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(length)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12EEB-F3B3-03AA-2406-298EE5699822}"/>
              </a:ext>
            </a:extLst>
          </p:cNvPr>
          <p:cNvSpPr txBox="1"/>
          <p:nvPr/>
        </p:nvSpPr>
        <p:spPr>
          <a:xfrm>
            <a:off x="6096000" y="1076593"/>
            <a:ext cx="5334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br>
              <a:rPr lang="en-ID" sz="2000" dirty="0"/>
            </a:br>
            <a:r>
              <a:rPr lang="en-ID" dirty="0">
                <a:latin typeface="Consolas" panose="020B0609020204030204" pitchFamily="49" charset="0"/>
              </a:rPr>
              <a:t>/* </a:t>
            </a:r>
            <a:r>
              <a:rPr lang="en-ID" dirty="0" err="1">
                <a:latin typeface="Consolas" panose="020B0609020204030204" pitchFamily="49" charset="0"/>
              </a:rPr>
              <a:t>Tahapan</a:t>
            </a:r>
            <a:r>
              <a:rPr lang="en-ID" dirty="0">
                <a:latin typeface="Consolas" panose="020B0609020204030204" pitchFamily="49" charset="0"/>
              </a:rPr>
              <a:t> DATA */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data </a:t>
            </a:r>
            <a:r>
              <a:rPr lang="en-ID" dirty="0" err="1">
                <a:latin typeface="Consolas" panose="020B0609020204030204" pitchFamily="49" charset="0"/>
              </a:rPr>
              <a:t>mhs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	length nama $20;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    </a:t>
            </a:r>
            <a:r>
              <a:rPr lang="en-ID" dirty="0" err="1">
                <a:latin typeface="Consolas" panose="020B0609020204030204" pitchFamily="49" charset="0"/>
              </a:rPr>
              <a:t>infile</a:t>
            </a:r>
            <a:r>
              <a:rPr lang="en-ID" dirty="0">
                <a:latin typeface="Consolas" panose="020B0609020204030204" pitchFamily="49" charset="0"/>
              </a:rPr>
              <a:t> </a:t>
            </a:r>
            <a:r>
              <a:rPr lang="en-ID" dirty="0" err="1">
                <a:latin typeface="Consolas" panose="020B0609020204030204" pitchFamily="49" charset="0"/>
              </a:rPr>
              <a:t>datalines</a:t>
            </a:r>
            <a:r>
              <a:rPr lang="en-ID" dirty="0">
                <a:latin typeface="Consolas" panose="020B0609020204030204" pitchFamily="49" charset="0"/>
              </a:rPr>
              <a:t> </a:t>
            </a:r>
            <a:r>
              <a:rPr lang="en-ID" dirty="0" err="1">
                <a:latin typeface="Consolas" panose="020B0609020204030204" pitchFamily="49" charset="0"/>
              </a:rPr>
              <a:t>dlm</a:t>
            </a:r>
            <a:r>
              <a:rPr lang="en-ID" dirty="0">
                <a:latin typeface="Consolas" panose="020B0609020204030204" pitchFamily="49" charset="0"/>
              </a:rPr>
              <a:t>='|' </a:t>
            </a:r>
            <a:r>
              <a:rPr lang="en-ID" dirty="0" err="1">
                <a:latin typeface="Consolas" panose="020B0609020204030204" pitchFamily="49" charset="0"/>
              </a:rPr>
              <a:t>truncover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    input nama $ nim $ </a:t>
            </a:r>
            <a:r>
              <a:rPr lang="en-ID" dirty="0" err="1">
                <a:latin typeface="Consolas" panose="020B0609020204030204" pitchFamily="49" charset="0"/>
              </a:rPr>
              <a:t>jk</a:t>
            </a:r>
            <a:r>
              <a:rPr lang="en-ID" dirty="0">
                <a:latin typeface="Consolas" panose="020B0609020204030204" pitchFamily="49" charset="0"/>
              </a:rPr>
              <a:t> $ </a:t>
            </a:r>
            <a:r>
              <a:rPr lang="en-ID" dirty="0" err="1">
                <a:latin typeface="Consolas" panose="020B0609020204030204" pitchFamily="49" charset="0"/>
              </a:rPr>
              <a:t>umur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    </a:t>
            </a:r>
            <a:r>
              <a:rPr lang="en-ID" dirty="0" err="1">
                <a:latin typeface="Consolas" panose="020B0609020204030204" pitchFamily="49" charset="0"/>
              </a:rPr>
              <a:t>datalines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Ali Imron|G1415001|1|rip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Budianti|G1415002|2|21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Cece|G1415003|1|20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Ririn|G1415005|2|19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Dory|G1415006|2|22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Zain|G1415009|1|22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Dudin|G1415010|1|23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run;</a:t>
            </a:r>
            <a:br>
              <a:rPr lang="en-ID" dirty="0">
                <a:latin typeface="Consolas" panose="020B0609020204030204" pitchFamily="49" charset="0"/>
              </a:rPr>
            </a:b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/* </a:t>
            </a:r>
            <a:r>
              <a:rPr lang="en-ID" dirty="0" err="1">
                <a:latin typeface="Consolas" panose="020B0609020204030204" pitchFamily="49" charset="0"/>
              </a:rPr>
              <a:t>Tahapan</a:t>
            </a:r>
            <a:r>
              <a:rPr lang="en-ID" dirty="0">
                <a:latin typeface="Consolas" panose="020B0609020204030204" pitchFamily="49" charset="0"/>
              </a:rPr>
              <a:t> PROC */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proc print;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run;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28857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90996A-E5D8-58A7-D1BE-19BDD359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0A1A5F1-ED20-A150-51EC-B147EF81B7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0705"/>
            <a:ext cx="419099" cy="4737291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F4F9C13-1360-BDE5-E469-0226BAAC60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8359" y="272795"/>
            <a:ext cx="2080259" cy="544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785A7C-5161-89BE-53F1-4BCC6E89DD90}"/>
              </a:ext>
            </a:extLst>
          </p:cNvPr>
          <p:cNvSpPr txBox="1"/>
          <p:nvPr/>
        </p:nvSpPr>
        <p:spPr>
          <a:xfrm>
            <a:off x="609600" y="1076593"/>
            <a:ext cx="4953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Solusi 2:</a:t>
            </a:r>
          </a:p>
          <a:p>
            <a:r>
              <a:rPr lang="en-ID" sz="2400" b="1" dirty="0"/>
              <a:t>Pakai informant &amp; (ampersand).</a:t>
            </a:r>
          </a:p>
          <a:p>
            <a:r>
              <a:rPr lang="en-ID" sz="2400" dirty="0"/>
              <a:t>Kalau </a:t>
            </a:r>
            <a:r>
              <a:rPr lang="en-ID" sz="2400" dirty="0" err="1"/>
              <a:t>datanya</a:t>
            </a:r>
            <a:r>
              <a:rPr lang="en-ID" sz="2400" dirty="0"/>
              <a:t> </a:t>
            </a:r>
            <a:r>
              <a:rPr lang="en-ID" sz="2400" b="1" dirty="0" err="1"/>
              <a:t>tetap</a:t>
            </a:r>
            <a:r>
              <a:rPr lang="en-ID" sz="2400" b="1" dirty="0"/>
              <a:t> </a:t>
            </a:r>
            <a:r>
              <a:rPr lang="en-ID" sz="2400" b="1" dirty="0" err="1"/>
              <a:t>pakai</a:t>
            </a:r>
            <a:r>
              <a:rPr lang="en-ID" sz="2400" b="1" dirty="0"/>
              <a:t> </a:t>
            </a:r>
            <a:r>
              <a:rPr lang="en-ID" sz="2400" b="1" dirty="0" err="1"/>
              <a:t>spasi</a:t>
            </a:r>
            <a:r>
              <a:rPr lang="en-ID" sz="2400" dirty="0"/>
              <a:t>, </a:t>
            </a:r>
            <a:r>
              <a:rPr lang="en-ID" sz="2400" dirty="0" err="1"/>
              <a:t>gunakan</a:t>
            </a:r>
            <a:r>
              <a:rPr lang="en-ID" sz="2400" dirty="0"/>
              <a:t> &amp; agar SAS </a:t>
            </a:r>
            <a:r>
              <a:rPr lang="en-ID" sz="2400" dirty="0" err="1"/>
              <a:t>membaca</a:t>
            </a:r>
            <a:r>
              <a:rPr lang="en-ID" sz="2400" dirty="0"/>
              <a:t> </a:t>
            </a:r>
            <a:r>
              <a:rPr lang="en-ID" sz="2400" dirty="0" err="1"/>
              <a:t>sampai</a:t>
            </a:r>
            <a:r>
              <a:rPr lang="en-ID" sz="2400" dirty="0"/>
              <a:t> </a:t>
            </a:r>
            <a:r>
              <a:rPr lang="en-ID" sz="2400" b="1" dirty="0"/>
              <a:t>dua </a:t>
            </a:r>
            <a:r>
              <a:rPr lang="en-ID" sz="2400" b="1" dirty="0" err="1"/>
              <a:t>spasi</a:t>
            </a:r>
            <a:r>
              <a:rPr lang="en-ID" sz="2400" b="1" dirty="0"/>
              <a:t> </a:t>
            </a:r>
            <a:r>
              <a:rPr lang="en-ID" sz="2400" b="1" dirty="0" err="1"/>
              <a:t>berturut-turut</a:t>
            </a:r>
            <a:r>
              <a:rPr lang="en-ID" sz="2400" dirty="0"/>
              <a:t>.</a:t>
            </a:r>
          </a:p>
          <a:p>
            <a:pPr>
              <a:buNone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Harus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2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 Imron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$20. =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maksimal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5AF7D-5700-E91C-A3EB-81C588BCCBC2}"/>
              </a:ext>
            </a:extLst>
          </p:cNvPr>
          <p:cNvSpPr txBox="1"/>
          <p:nvPr/>
        </p:nvSpPr>
        <p:spPr>
          <a:xfrm>
            <a:off x="6096000" y="1076593"/>
            <a:ext cx="5334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br>
              <a:rPr lang="en-ID" sz="2000" dirty="0"/>
            </a:br>
            <a:r>
              <a:rPr lang="en-ID" dirty="0">
                <a:latin typeface="Consolas" panose="020B0609020204030204" pitchFamily="49" charset="0"/>
              </a:rPr>
              <a:t>/* </a:t>
            </a:r>
            <a:r>
              <a:rPr lang="en-ID" dirty="0" err="1">
                <a:latin typeface="Consolas" panose="020B0609020204030204" pitchFamily="49" charset="0"/>
              </a:rPr>
              <a:t>Tahapan</a:t>
            </a:r>
            <a:r>
              <a:rPr lang="en-ID" dirty="0">
                <a:latin typeface="Consolas" panose="020B0609020204030204" pitchFamily="49" charset="0"/>
              </a:rPr>
              <a:t> DATA */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data </a:t>
            </a:r>
            <a:r>
              <a:rPr lang="en-ID" dirty="0" err="1">
                <a:latin typeface="Consolas" panose="020B0609020204030204" pitchFamily="49" charset="0"/>
              </a:rPr>
              <a:t>mhs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	length nama $20;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    </a:t>
            </a:r>
            <a:r>
              <a:rPr lang="en-ID" dirty="0" err="1">
                <a:latin typeface="Consolas" panose="020B0609020204030204" pitchFamily="49" charset="0"/>
              </a:rPr>
              <a:t>infile</a:t>
            </a:r>
            <a:r>
              <a:rPr lang="en-ID" dirty="0">
                <a:latin typeface="Consolas" panose="020B0609020204030204" pitchFamily="49" charset="0"/>
              </a:rPr>
              <a:t> </a:t>
            </a:r>
            <a:r>
              <a:rPr lang="en-ID" dirty="0" err="1">
                <a:latin typeface="Consolas" panose="020B0609020204030204" pitchFamily="49" charset="0"/>
              </a:rPr>
              <a:t>datalines</a:t>
            </a:r>
            <a:r>
              <a:rPr lang="en-ID" dirty="0">
                <a:latin typeface="Consolas" panose="020B0609020204030204" pitchFamily="49" charset="0"/>
              </a:rPr>
              <a:t> </a:t>
            </a:r>
            <a:r>
              <a:rPr lang="en-ID" dirty="0" err="1">
                <a:latin typeface="Consolas" panose="020B0609020204030204" pitchFamily="49" charset="0"/>
              </a:rPr>
              <a:t>dlm</a:t>
            </a:r>
            <a:r>
              <a:rPr lang="en-ID" dirty="0">
                <a:latin typeface="Consolas" panose="020B0609020204030204" pitchFamily="49" charset="0"/>
              </a:rPr>
              <a:t>='|' </a:t>
            </a:r>
            <a:r>
              <a:rPr lang="en-ID" dirty="0" err="1">
                <a:latin typeface="Consolas" panose="020B0609020204030204" pitchFamily="49" charset="0"/>
              </a:rPr>
              <a:t>truncover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    input nama $ nim $ </a:t>
            </a:r>
            <a:r>
              <a:rPr lang="en-ID" dirty="0" err="1">
                <a:latin typeface="Consolas" panose="020B0609020204030204" pitchFamily="49" charset="0"/>
              </a:rPr>
              <a:t>jk</a:t>
            </a:r>
            <a:r>
              <a:rPr lang="en-ID" dirty="0">
                <a:latin typeface="Consolas" panose="020B0609020204030204" pitchFamily="49" charset="0"/>
              </a:rPr>
              <a:t> $ </a:t>
            </a:r>
            <a:r>
              <a:rPr lang="en-ID" dirty="0" err="1">
                <a:latin typeface="Consolas" panose="020B0609020204030204" pitchFamily="49" charset="0"/>
              </a:rPr>
              <a:t>umur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    </a:t>
            </a:r>
            <a:r>
              <a:rPr lang="en-ID" dirty="0" err="1">
                <a:latin typeface="Consolas" panose="020B0609020204030204" pitchFamily="49" charset="0"/>
              </a:rPr>
              <a:t>datalines</a:t>
            </a: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Ali Imron|G1415001|1|rip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Budianti|G1415002|2|21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Cece|G1415003|1|20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Ririn|G1415005|2|19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Dory|G1415006|2|22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Zain|G1415009|1|22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Dudin|G1415010|1|23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run;</a:t>
            </a:r>
            <a:br>
              <a:rPr lang="en-ID" dirty="0">
                <a:latin typeface="Consolas" panose="020B0609020204030204" pitchFamily="49" charset="0"/>
              </a:rPr>
            </a:b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/* </a:t>
            </a:r>
            <a:r>
              <a:rPr lang="en-ID" dirty="0" err="1">
                <a:latin typeface="Consolas" panose="020B0609020204030204" pitchFamily="49" charset="0"/>
              </a:rPr>
              <a:t>Tahapan</a:t>
            </a:r>
            <a:r>
              <a:rPr lang="en-ID" dirty="0">
                <a:latin typeface="Consolas" panose="020B0609020204030204" pitchFamily="49" charset="0"/>
              </a:rPr>
              <a:t> PROC */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proc print;</a:t>
            </a:r>
            <a:br>
              <a:rPr lang="en-ID" dirty="0">
                <a:latin typeface="Consolas" panose="020B0609020204030204" pitchFamily="49" charset="0"/>
              </a:rPr>
            </a:br>
            <a:r>
              <a:rPr lang="en-ID" dirty="0">
                <a:latin typeface="Consolas" panose="020B0609020204030204" pitchFamily="49" charset="0"/>
              </a:rPr>
              <a:t>run;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51596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06789" y="2712189"/>
            <a:ext cx="7178422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8535">
              <a:lnSpc>
                <a:spcPct val="100000"/>
              </a:lnSpc>
              <a:spcBef>
                <a:spcPts val="105"/>
              </a:spcBef>
            </a:pPr>
            <a:r>
              <a:rPr sz="6000" b="1" dirty="0" err="1">
                <a:latin typeface="Arial"/>
                <a:cs typeface="Arial"/>
              </a:rPr>
              <a:t>Terima</a:t>
            </a:r>
            <a:r>
              <a:rPr sz="6000" b="1" spc="-45" dirty="0">
                <a:latin typeface="Arial"/>
                <a:cs typeface="Arial"/>
              </a:rPr>
              <a:t> </a:t>
            </a:r>
            <a:r>
              <a:rPr sz="6000" b="1" spc="-10" dirty="0">
                <a:latin typeface="Arial"/>
                <a:cs typeface="Arial"/>
              </a:rPr>
              <a:t>Kasih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975" y="4931155"/>
            <a:ext cx="366839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Department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</a:rPr>
              <a:t> Statistics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Jl.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Meranti</a:t>
            </a:r>
            <a:r>
              <a:rPr sz="18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W22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Arial MT"/>
                <a:cs typeface="Arial MT"/>
              </a:rPr>
              <a:t>L4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Kampus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IPB</a:t>
            </a:r>
            <a:r>
              <a:rPr sz="1800" spc="-4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Dramaga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Bogor</a:t>
            </a:r>
            <a:r>
              <a:rPr sz="1800" spc="-2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</a:rPr>
              <a:t>16680 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Telp.:</a:t>
            </a:r>
            <a:r>
              <a:rPr sz="1800" spc="-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</a:rPr>
              <a:t>0251-8624535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</a:rPr>
              <a:t>E-</a:t>
            </a:r>
            <a:r>
              <a:rPr sz="1800" dirty="0">
                <a:solidFill>
                  <a:srgbClr val="3E3E3E"/>
                </a:solidFill>
                <a:latin typeface="Arial MT"/>
                <a:cs typeface="Arial MT"/>
              </a:rPr>
              <a:t>mail:</a:t>
            </a:r>
            <a:r>
              <a:rPr sz="1800" spc="-15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Arial MT"/>
                <a:cs typeface="Arial MT"/>
                <a:hlinkClick r:id="rId3"/>
              </a:rPr>
              <a:t>statistika@apps.ipb.ac.id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931" y="4783835"/>
            <a:ext cx="2479548" cy="168370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445764" y="4783835"/>
            <a:ext cx="0" cy="1684020"/>
          </a:xfrm>
          <a:custGeom>
            <a:avLst/>
            <a:gdLst/>
            <a:ahLst/>
            <a:cxnLst/>
            <a:rect l="l" t="t" r="r" b="b"/>
            <a:pathLst>
              <a:path h="1684020">
                <a:moveTo>
                  <a:pt x="0" y="0"/>
                </a:moveTo>
                <a:lnTo>
                  <a:pt x="0" y="1683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66219" y="3180587"/>
            <a:ext cx="525779" cy="36774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2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Preface</a:t>
            </a:r>
            <a:r>
              <a:rPr spc="-55" dirty="0"/>
              <a:t> </a:t>
            </a:r>
            <a:r>
              <a:rPr spc="-10" dirty="0"/>
              <a:t>Slide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"/>
            <a:ext cx="12192000" cy="6857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3E3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685</TotalTime>
  <Words>1402</Words>
  <Application>Microsoft Office PowerPoint</Application>
  <PresentationFormat>Widescreen</PresentationFormat>
  <Paragraphs>240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MT</vt:lpstr>
      <vt:lpstr>Calibri</vt:lpstr>
      <vt:lpstr>Consolas</vt:lpstr>
      <vt:lpstr>Roboto</vt:lpstr>
      <vt:lpstr>Times New Roman</vt:lpstr>
      <vt:lpstr>Office Theme</vt:lpstr>
      <vt:lpstr>PowerPoint Presentation</vt:lpstr>
      <vt:lpstr>Kontrak Praktikum</vt:lpstr>
      <vt:lpstr>SAS/IML</vt:lpstr>
      <vt:lpstr>SAS OnDemand for Academics (ODA)</vt:lpstr>
      <vt:lpstr>Dasar Teori Singkat </vt:lpstr>
      <vt:lpstr>Tabel Simbol dan Tanda Penting di SAS</vt:lpstr>
      <vt:lpstr>PowerPoint Presentation</vt:lpstr>
      <vt:lpstr>Membuat Dataset Sederhana</vt:lpstr>
      <vt:lpstr>Menampilkan Data</vt:lpstr>
      <vt:lpstr>Menampilkan Data</vt:lpstr>
      <vt:lpstr>Statistika Deskriptif</vt:lpstr>
      <vt:lpstr>PowerPoint Presentation</vt:lpstr>
      <vt:lpstr>Mengenal Error</vt:lpstr>
      <vt:lpstr>Mengenal Error</vt:lpstr>
      <vt:lpstr>Contoh Program </vt:lpstr>
      <vt:lpstr>PowerPoint Presentation</vt:lpstr>
      <vt:lpstr>PowerPoint Presentation</vt:lpstr>
      <vt:lpstr>PowerPoint Presentation</vt:lpstr>
      <vt:lpstr>Terima Kasih</vt:lpstr>
      <vt:lpstr>Preface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Fitri Diana Musa</cp:lastModifiedBy>
  <cp:revision>4</cp:revision>
  <dcterms:created xsi:type="dcterms:W3CDTF">2026-01-28T16:35:55Z</dcterms:created>
  <dcterms:modified xsi:type="dcterms:W3CDTF">2026-01-29T04:02:03Z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2026-01-28T00:00:00Z</vt:filetime>
  </property>
  <property fmtid="{D5CDD505-2E9C-101B-9397-08002B2CF9AE}" pid="5" name="Producer">
    <vt:lpwstr>Microsoft® PowerPoint® 2021</vt:lpwstr>
  </property>
</Properties>
</file>